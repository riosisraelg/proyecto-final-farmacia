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cmilenio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5741" y="457200"/>
            <a:ext cx="2135875" cy="685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377440"/>
            <a:ext cx="10362895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000000"/>
                </a:solidFill>
                <a:latin typeface="Arial"/>
              </a:rPr>
              <a:t>Farmacia con Consultorio Médico</a:t>
            </a:r>
          </a:p>
          <a:p>
            <a:pPr algn="ctr">
              <a:spcAft>
                <a:spcPts val="600"/>
              </a:spcAft>
            </a:pPr>
            <a:r>
              <a:rPr sz="2000" b="0">
                <a:solidFill>
                  <a:srgbClr val="404040"/>
                </a:solidFill>
                <a:latin typeface="Arial"/>
              </a:rPr>
              <a:t>Presentación Técnica del Proyecto Final — Base de Datos Relacional</a:t>
            </a:r>
          </a:p>
          <a:p>
            <a:pPr algn="ctr">
              <a:spcAft>
                <a:spcPts val="600"/>
              </a:spcAft>
            </a:pPr>
            <a:r>
              <a:rPr sz="1000" b="0">
                <a:solidFill>
                  <a:srgbClr val="000000"/>
                </a:solidFill>
                <a:latin typeface="Arial"/>
              </a:rPr>
              <a:t/>
            </a:r>
          </a:p>
          <a:p>
            <a:pPr algn="ctr">
              <a:spcAft>
                <a:spcPts val="600"/>
              </a:spcAft>
            </a:pPr>
            <a:r>
              <a:rPr sz="1600" b="0">
                <a:solidFill>
                  <a:srgbClr val="000000"/>
                </a:solidFill>
                <a:latin typeface="Arial"/>
              </a:rPr>
              <a:t>[Tu Nombre]  |  LSTI2311: Bases de Datos</a:t>
            </a:r>
          </a:p>
          <a:p>
            <a:pPr algn="ctr">
              <a:spcAft>
                <a:spcPts val="600"/>
              </a:spcAft>
            </a:pPr>
            <a:r>
              <a:rPr sz="1400" b="0">
                <a:solidFill>
                  <a:srgbClr val="404040"/>
                </a:solidFill>
                <a:latin typeface="Arial"/>
              </a:rPr>
              <a:t>26 de septiembre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00000"/>
                </a:solidFill>
                <a:latin typeface="Arial"/>
              </a:rPr>
              <a:t>Agenda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261872"/>
            <a:ext cx="475488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463040"/>
            <a:ext cx="1091153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>
                <a:solidFill>
                  <a:srgbClr val="000000"/>
                </a:solidFill>
                <a:latin typeface="Arial"/>
              </a:rPr>
              <a:t>1.  La empresa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000000"/>
                </a:solidFill>
                <a:latin typeface="Arial"/>
              </a:rPr>
              <a:t>2.  Problemática actual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000000"/>
                </a:solidFill>
                <a:latin typeface="Arial"/>
              </a:rPr>
              <a:t>3.  Impacto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000000"/>
                </a:solidFill>
                <a:latin typeface="Arial"/>
              </a:rPr>
              <a:t>4.  Objetivo del proyecto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000000"/>
                </a:solidFill>
                <a:latin typeface="Arial"/>
              </a:rPr>
              <a:t>5.  Estrategia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000000"/>
                </a:solidFill>
                <a:latin typeface="Arial"/>
              </a:rPr>
              <a:t>6.  Modelo Entidad-Relación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000000"/>
                </a:solidFill>
                <a:latin typeface="Arial"/>
              </a:rPr>
              <a:t>7.  ¿Cómo ayuda la BD? — Gestión de datos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000000"/>
                </a:solidFill>
                <a:latin typeface="Arial"/>
              </a:rPr>
              <a:t>8.  ¿Cómo ayuda la BD? — Automatización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000000"/>
                </a:solidFill>
                <a:latin typeface="Arial"/>
              </a:rPr>
              <a:t>9.  Conexión Java (JDBC)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000000"/>
                </a:solidFill>
                <a:latin typeface="Arial"/>
              </a:rPr>
              <a:t>10.  Validación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000000"/>
                </a:solidFill>
                <a:latin typeface="Arial"/>
              </a:rPr>
              <a:t>11.  Beneficios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000000"/>
                </a:solidFill>
                <a:latin typeface="Arial"/>
              </a:rPr>
              <a:t>12.  Conclusión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109115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04040"/>
                </a:solidFill>
                <a:latin typeface="Arial"/>
              </a:rPr>
              <a:t>Farmacia con Consultorio Médico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37215" y="640080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04040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00000"/>
                </a:solidFill>
                <a:latin typeface="Arial"/>
              </a:rPr>
              <a:t>¿Qué empresa representamos?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261872"/>
            <a:ext cx="475488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55448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000000"/>
                </a:solidFill>
                <a:latin typeface="Arial"/>
              </a:rPr>
              <a:t>– Consultorio médico con farmacia asociada.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000000"/>
                </a:solidFill>
                <a:latin typeface="Arial"/>
              </a:rPr>
              <a:t>– Atiende consultas, emite recetas y surte medicamentos en el mismo lugar.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000000"/>
                </a:solidFill>
                <a:latin typeface="Arial"/>
              </a:rPr>
              <a:t>– Áreas involucradas: consultorio (médicos), farmacia (dispensación), compras (proveedores) y administración.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109115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04040"/>
                </a:solidFill>
                <a:latin typeface="Arial"/>
              </a:rPr>
              <a:t>Farmacia con Consultorio Médico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37215" y="640080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04040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00000"/>
                </a:solidFill>
                <a:latin typeface="Arial"/>
              </a:rPr>
              <a:t>¿Cuál es su problemática actual?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261872"/>
            <a:ext cx="475488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55448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000000"/>
                </a:solidFill>
                <a:latin typeface="Arial"/>
              </a:rPr>
              <a:t>– Historiales clínicos en papel: se extravían y fragmentan la atención.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000000"/>
                </a:solidFill>
                <a:latin typeface="Arial"/>
              </a:rPr>
              <a:t>– Inventario sin control: desabasto de fármacos clave y mermas por caducidad.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000000"/>
                </a:solidFill>
                <a:latin typeface="Arial"/>
              </a:rPr>
              <a:t>– Recetas y ventas desvinculadas: no hay trazabilidad receta–venta.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000000"/>
                </a:solidFill>
                <a:latin typeface="Arial"/>
              </a:rPr>
              <a:t>– Procesos manuales: reposición tardía y errores de dispensación.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109115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04040"/>
                </a:solidFill>
                <a:latin typeface="Arial"/>
              </a:rPr>
              <a:t>Farmacia con Consultorio Médico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37215" y="640080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04040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00000"/>
                </a:solidFill>
                <a:latin typeface="Arial"/>
              </a:rPr>
              <a:t>¿Cuál es su impacto?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261872"/>
            <a:ext cx="475488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55448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000000"/>
                </a:solidFill>
                <a:latin typeface="Arial"/>
              </a:rPr>
              <a:t>– </a:t>
            </a:r>
            <a:r>
              <a:rPr b="1" sz="2000">
                <a:solidFill>
                  <a:srgbClr val="000000"/>
                </a:solidFill>
                <a:latin typeface="Arial"/>
              </a:rPr>
              <a:t>Clínico:</a:t>
            </a:r>
            <a:r>
              <a:rPr sz="2000">
                <a:solidFill>
                  <a:srgbClr val="000000"/>
                </a:solidFill>
                <a:latin typeface="Arial"/>
              </a:rPr>
              <a:t> riesgo para el paciente por alergias/interacciones no detectadas.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000000"/>
                </a:solidFill>
                <a:latin typeface="Arial"/>
              </a:rPr>
              <a:t>– </a:t>
            </a:r>
            <a:r>
              <a:rPr b="1" sz="2000">
                <a:solidFill>
                  <a:srgbClr val="000000"/>
                </a:solidFill>
                <a:latin typeface="Arial"/>
              </a:rPr>
              <a:t>Económico:</a:t>
            </a:r>
            <a:r>
              <a:rPr sz="2000">
                <a:solidFill>
                  <a:srgbClr val="000000"/>
                </a:solidFill>
                <a:latin typeface="Arial"/>
              </a:rPr>
              <a:t> pérdidas por caducidad, desabasto y ventas no registradas.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000000"/>
                </a:solidFill>
                <a:latin typeface="Arial"/>
              </a:rPr>
              <a:t>– </a:t>
            </a:r>
            <a:r>
              <a:rPr b="1" sz="2000">
                <a:solidFill>
                  <a:srgbClr val="000000"/>
                </a:solidFill>
                <a:latin typeface="Arial"/>
              </a:rPr>
              <a:t>Operativo:</a:t>
            </a:r>
            <a:r>
              <a:rPr sz="2000">
                <a:solidFill>
                  <a:srgbClr val="000000"/>
                </a:solidFill>
                <a:latin typeface="Arial"/>
              </a:rPr>
              <a:t> decisiones de compra sin datos y auditorías difíciles.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000000"/>
                </a:solidFill>
                <a:latin typeface="Arial"/>
              </a:rPr>
              <a:t>– </a:t>
            </a:r>
            <a:r>
              <a:rPr b="1" sz="2000">
                <a:solidFill>
                  <a:srgbClr val="000000"/>
                </a:solidFill>
                <a:latin typeface="Arial"/>
              </a:rPr>
              <a:t>Reputacional:</a:t>
            </a:r>
            <a:r>
              <a:rPr sz="2000">
                <a:solidFill>
                  <a:srgbClr val="000000"/>
                </a:solidFill>
                <a:latin typeface="Arial"/>
              </a:rPr>
              <a:t> menor confianza del paciente en la atención.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109115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04040"/>
                </a:solidFill>
                <a:latin typeface="Arial"/>
              </a:rPr>
              <a:t>Farmacia con Consultorio Médico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37215" y="640080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04040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00000"/>
                </a:solidFill>
                <a:latin typeface="Arial"/>
              </a:rPr>
              <a:t>Objetivo del proyecto (SMART)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261872"/>
            <a:ext cx="475488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1463040"/>
            <a:ext cx="10911535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800">
                <a:solidFill>
                  <a:srgbClr val="000000"/>
                </a:solidFill>
                <a:latin typeface="Arial"/>
              </a:rPr>
              <a:t>Implementar una base de datos relacional para el consultorio-farmacia que centralice historial clínico, inventario y ventas, con validaciones automáticas, reduciendo errores de dispensación y desabasto.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000000"/>
                </a:solidFill>
                <a:latin typeface="Arial"/>
              </a:rPr>
              <a:t>– </a:t>
            </a:r>
            <a:r>
              <a:rPr b="1" sz="1800">
                <a:solidFill>
                  <a:srgbClr val="000000"/>
                </a:solidFill>
                <a:latin typeface="Arial"/>
              </a:rPr>
              <a:t>Específico:</a:t>
            </a:r>
            <a:r>
              <a:rPr sz="1800">
                <a:solidFill>
                  <a:srgbClr val="000000"/>
                </a:solidFill>
                <a:latin typeface="Arial"/>
              </a:rPr>
              <a:t> historial, inventario y recetas en una sola base.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00000"/>
                </a:solidFill>
                <a:latin typeface="Arial"/>
              </a:rPr>
              <a:t>– </a:t>
            </a:r>
            <a:r>
              <a:rPr b="1" sz="1800">
                <a:solidFill>
                  <a:srgbClr val="000000"/>
                </a:solidFill>
                <a:latin typeface="Arial"/>
              </a:rPr>
              <a:t>Medible:</a:t>
            </a:r>
            <a:r>
              <a:rPr sz="1800">
                <a:solidFill>
                  <a:srgbClr val="000000"/>
                </a:solidFill>
                <a:latin typeface="Arial"/>
              </a:rPr>
              <a:t> 20 tablas, 3 vistas, 3 SP y 2 triggers operativos.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00000"/>
                </a:solidFill>
                <a:latin typeface="Arial"/>
              </a:rPr>
              <a:t>– </a:t>
            </a:r>
            <a:r>
              <a:rPr b="1" sz="1800">
                <a:solidFill>
                  <a:srgbClr val="000000"/>
                </a:solidFill>
                <a:latin typeface="Arial"/>
              </a:rPr>
              <a:t>Alcanzable:</a:t>
            </a:r>
            <a:r>
              <a:rPr sz="1800">
                <a:solidFill>
                  <a:srgbClr val="000000"/>
                </a:solidFill>
                <a:latin typeface="Arial"/>
              </a:rPr>
              <a:t> MySQL + acceso desde Java (JDBC).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00000"/>
                </a:solidFill>
                <a:latin typeface="Arial"/>
              </a:rPr>
              <a:t>– </a:t>
            </a:r>
            <a:r>
              <a:rPr b="1" sz="1800">
                <a:solidFill>
                  <a:srgbClr val="000000"/>
                </a:solidFill>
                <a:latin typeface="Arial"/>
              </a:rPr>
              <a:t>Relevante:</a:t>
            </a:r>
            <a:r>
              <a:rPr sz="1800">
                <a:solidFill>
                  <a:srgbClr val="000000"/>
                </a:solidFill>
                <a:latin typeface="Arial"/>
              </a:rPr>
              <a:t> ataca las causas de riesgo clínico y pérdidas.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00000"/>
                </a:solidFill>
                <a:latin typeface="Arial"/>
              </a:rPr>
              <a:t>– </a:t>
            </a:r>
            <a:r>
              <a:rPr b="1" sz="1800">
                <a:solidFill>
                  <a:srgbClr val="000000"/>
                </a:solidFill>
                <a:latin typeface="Arial"/>
              </a:rPr>
              <a:t>Temporal:</a:t>
            </a:r>
            <a:r>
              <a:rPr sz="1800">
                <a:solidFill>
                  <a:srgbClr val="000000"/>
                </a:solidFill>
                <a:latin typeface="Arial"/>
              </a:rPr>
              <a:t> entregable al cierre del proyecto final.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109115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04040"/>
                </a:solidFill>
                <a:latin typeface="Arial"/>
              </a:rPr>
              <a:t>Farmacia con Consultorio Médico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37215" y="640080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04040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00000"/>
                </a:solidFill>
                <a:latin typeface="Arial"/>
              </a:rPr>
              <a:t>Estrategia: atacar la causa raíz operativa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261872"/>
            <a:ext cx="475488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46304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800">
                <a:solidFill>
                  <a:srgbClr val="000000"/>
                </a:solidFill>
                <a:latin typeface="Arial"/>
              </a:rPr>
              <a:t>Primero la operación, luego la tecnología.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1091153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000000"/>
                </a:solidFill>
                <a:latin typeface="Arial"/>
              </a:rPr>
              <a:t>– Estandarizar el flujo: paciente → consulta → receta → surtido → venta → inventario → reposición.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000000"/>
                </a:solidFill>
                <a:latin typeface="Arial"/>
              </a:rPr>
              <a:t>– Definir reglas de negocio: vigencia de cédula médica, control de alergias/interacciones, stock mínimo y caducidad.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000000"/>
                </a:solidFill>
                <a:latin typeface="Arial"/>
              </a:rPr>
              <a:t>– Después, llevar esas reglas a la base de datos como restricciones, procedimientos y triggers.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109115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04040"/>
                </a:solidFill>
                <a:latin typeface="Arial"/>
              </a:rPr>
              <a:t>Farmacia con Consultorio Médico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37215" y="640080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04040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00000"/>
                </a:solidFill>
                <a:latin typeface="Arial"/>
              </a:rPr>
              <a:t>¿Cuál es la importancia de...?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261872"/>
            <a:ext cx="475488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55448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000000"/>
                </a:solidFill>
                <a:latin typeface="Arial"/>
              </a:rPr>
              <a:t>– </a:t>
            </a:r>
            <a:r>
              <a:rPr b="1" sz="2000">
                <a:solidFill>
                  <a:srgbClr val="000000"/>
                </a:solidFill>
                <a:latin typeface="Arial"/>
              </a:rPr>
              <a:t>Entender las reglas de negocio:</a:t>
            </a:r>
            <a:r>
              <a:rPr sz="2000">
                <a:solidFill>
                  <a:srgbClr val="000000"/>
                </a:solidFill>
                <a:latin typeface="Arial"/>
              </a:rPr>
              <a:t> evita errores clínicos y define qué debe validar el sistema.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000000"/>
                </a:solidFill>
                <a:latin typeface="Arial"/>
              </a:rPr>
              <a:t>– </a:t>
            </a:r>
            <a:r>
              <a:rPr b="1" sz="2000">
                <a:solidFill>
                  <a:srgbClr val="000000"/>
                </a:solidFill>
                <a:latin typeface="Arial"/>
              </a:rPr>
              <a:t>Mapear el flujo de información:</a:t>
            </a:r>
            <a:r>
              <a:rPr sz="2000">
                <a:solidFill>
                  <a:srgbClr val="000000"/>
                </a:solidFill>
                <a:latin typeface="Arial"/>
              </a:rPr>
              <a:t> muestra qué datos se comparten entre consultorio, farmacia y compras.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000000"/>
                </a:solidFill>
                <a:latin typeface="Arial"/>
              </a:rPr>
              <a:t>– </a:t>
            </a:r>
            <a:r>
              <a:rPr b="1" sz="2000">
                <a:solidFill>
                  <a:srgbClr val="000000"/>
                </a:solidFill>
                <a:latin typeface="Arial"/>
              </a:rPr>
              <a:t>Integrar operación y tecnología:</a:t>
            </a:r>
            <a:r>
              <a:rPr sz="2000">
                <a:solidFill>
                  <a:srgbClr val="000000"/>
                </a:solidFill>
                <a:latin typeface="Arial"/>
              </a:rPr>
              <a:t> una sola fuente de verdad, sin islas de información.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000000"/>
                </a:solidFill>
                <a:latin typeface="Arial"/>
              </a:rPr>
              <a:t>– </a:t>
            </a:r>
            <a:r>
              <a:rPr b="1" sz="2000">
                <a:solidFill>
                  <a:srgbClr val="000000"/>
                </a:solidFill>
                <a:latin typeface="Arial"/>
              </a:rPr>
              <a:t>Gestionar la ejecución de la estrategia:</a:t>
            </a:r>
            <a:r>
              <a:rPr sz="2000">
                <a:solidFill>
                  <a:srgbClr val="000000"/>
                </a:solidFill>
                <a:latin typeface="Arial"/>
              </a:rPr>
              <a:t> vistas, SP y triggers garantizan que las reglas se cumplan.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109115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04040"/>
                </a:solidFill>
                <a:latin typeface="Arial"/>
              </a:rPr>
              <a:t>Farmacia con Consultorio Médico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37215" y="640080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04040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hatsApp Image 2026-09-25 at 09.53.27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78745"/>
            <a:ext cx="12191695" cy="510050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00000"/>
                </a:solidFill>
                <a:latin typeface="Arial"/>
              </a:rPr>
              <a:t>Modelo Entidad-Relación: estructura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261872"/>
            <a:ext cx="475488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554480"/>
            <a:ext cx="1091153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000">
                <a:solidFill>
                  <a:srgbClr val="000000"/>
                </a:solidFill>
                <a:latin typeface="Arial"/>
              </a:rPr>
              <a:t>20 tablas organizadas en:</a:t>
            </a:r>
          </a:p>
          <a:p>
            <a:pPr lvl="1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  <a:latin typeface="Arial"/>
              </a:rPr>
              <a:t>– Personas: Empleados, Médicos, Pacientes.</a:t>
            </a:r>
          </a:p>
          <a:p>
            <a:pPr lvl="1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  <a:latin typeface="Arial"/>
              </a:rPr>
              <a:t>– Clínico: Historiales, Condiciones, Consultas, Recetas.</a:t>
            </a:r>
          </a:p>
          <a:p>
            <a:pPr lvl="1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  <a:latin typeface="Arial"/>
              </a:rPr>
              <a:t>– Farmacia: Medicamentos, Lotes, Inventario.</a:t>
            </a:r>
          </a:p>
          <a:p>
            <a:pPr lvl="1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  <a:latin typeface="Arial"/>
              </a:rPr>
              <a:t>– Comercial: Ventas, Proveedores, Órdenes de Compra.</a:t>
            </a:r>
          </a:p>
          <a:p>
            <a:pPr lvl="1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  <a:latin typeface="Arial"/>
              </a:rPr>
              <a:t>– Auditoría: Auditoria_Inventario (LOG).</a:t>
            </a:r>
          </a:p>
          <a:p>
            <a:pPr>
              <a:spcBef>
                <a:spcPts val="1000"/>
              </a:spcBef>
            </a:pPr>
            <a:r>
              <a:rPr sz="1500">
                <a:solidFill>
                  <a:srgbClr val="404040"/>
                </a:solidFill>
                <a:latin typeface="Arial"/>
              </a:rPr>
              <a:t>Claves primarias y foráneas por tabla; convención de IDs con prefijo (p. ej. PAC-000001). Normalización 1FN–3FN.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109115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04040"/>
                </a:solidFill>
                <a:latin typeface="Arial"/>
              </a:rPr>
              <a:t>Farmacia con Consultorio Médico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37215" y="640080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04040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00000"/>
                </a:solidFill>
                <a:latin typeface="Arial"/>
              </a:rPr>
              <a:t>¿Cómo ayuda la BD en la gestión de los datos? (Vistas)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261872"/>
            <a:ext cx="475488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554480"/>
            <a:ext cx="1091153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000000"/>
                </a:solidFill>
                <a:latin typeface="Arial"/>
              </a:rPr>
              <a:t>– </a:t>
            </a:r>
            <a:r>
              <a:rPr b="1" sz="2000">
                <a:solidFill>
                  <a:srgbClr val="000000"/>
                </a:solidFill>
                <a:latin typeface="Arial"/>
              </a:rPr>
              <a:t>Vista 1 — Historial clínico completo del paciente.</a:t>
            </a:r>
            <a:r>
              <a:rPr sz="2000">
                <a:solidFill>
                  <a:srgbClr val="000000"/>
                </a:solidFill>
                <a:latin typeface="Arial"/>
              </a:rPr>
              <a:t> Consolida consultas, diagnósticos, recetas, dosis y alergias.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000000"/>
                </a:solidFill>
                <a:latin typeface="Arial"/>
              </a:rPr>
              <a:t>– </a:t>
            </a:r>
            <a:r>
              <a:rPr b="1" sz="2000">
                <a:solidFill>
                  <a:srgbClr val="000000"/>
                </a:solidFill>
                <a:latin typeface="Arial"/>
              </a:rPr>
              <a:t>Vista 2 — Inventario con alertas de stock mínimo.</a:t>
            </a:r>
            <a:r>
              <a:rPr sz="2000">
                <a:solidFill>
                  <a:srgbClr val="000000"/>
                </a:solidFill>
                <a:latin typeface="Arial"/>
              </a:rPr>
              <a:t> Estado (suficiente/bajo/crítico/agotado), lote y caducidad más próxima.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000000"/>
                </a:solidFill>
                <a:latin typeface="Arial"/>
              </a:rPr>
              <a:t>– </a:t>
            </a:r>
            <a:r>
              <a:rPr b="1" sz="2000">
                <a:solidFill>
                  <a:srgbClr val="000000"/>
                </a:solidFill>
                <a:latin typeface="Arial"/>
              </a:rPr>
              <a:t>Vista 3 — Medicamentos más recetados y surtidos.</a:t>
            </a:r>
            <a:r>
              <a:rPr sz="2000">
                <a:solidFill>
                  <a:srgbClr val="000000"/>
                </a:solidFill>
                <a:latin typeface="Arial"/>
              </a:rPr>
              <a:t> Conversión receta–venta y tendencia de consumo para decidir compras.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1752447" y="4297680"/>
            <a:ext cx="86868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i="1" sz="1600">
                <a:solidFill>
                  <a:srgbClr val="404040"/>
                </a:solidFill>
                <a:latin typeface="Arial"/>
              </a:rPr>
              <a:t>[Captura de pantalla: resultado de una vista en MySQL]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109115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04040"/>
                </a:solidFill>
                <a:latin typeface="Arial"/>
              </a:rPr>
              <a:t>Farmacia con Consultorio Médico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37215" y="640080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04040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00000"/>
                </a:solidFill>
                <a:latin typeface="Arial"/>
              </a:rPr>
              <a:t>Automatización de procesos: Stored Procedures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261872"/>
            <a:ext cx="475488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55448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000000"/>
                </a:solidFill>
                <a:latin typeface="Arial"/>
              </a:rPr>
              <a:t>– </a:t>
            </a:r>
            <a:r>
              <a:rPr b="1" sz="2000">
                <a:solidFill>
                  <a:srgbClr val="000000"/>
                </a:solidFill>
                <a:latin typeface="Arial"/>
              </a:rPr>
              <a:t>SP1 — Registrar consulta y emitir receta.</a:t>
            </a:r>
            <a:r>
              <a:rPr sz="2000">
                <a:solidFill>
                  <a:srgbClr val="000000"/>
                </a:solidFill>
                <a:latin typeface="Arial"/>
              </a:rPr>
              <a:t> Valida paciente activo, médico con cédula vigente y alergias; inserta consulta, receta y detalle.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000000"/>
                </a:solidFill>
                <a:latin typeface="Arial"/>
              </a:rPr>
              <a:t>– </a:t>
            </a:r>
            <a:r>
              <a:rPr b="1" sz="2000">
                <a:solidFill>
                  <a:srgbClr val="000000"/>
                </a:solidFill>
                <a:latin typeface="Arial"/>
              </a:rPr>
              <a:t>SP2 — Surtir receta y actualizar inventario.</a:t>
            </a:r>
            <a:r>
              <a:rPr sz="2000">
                <a:solidFill>
                  <a:srgbClr val="000000"/>
                </a:solidFill>
                <a:latin typeface="Arial"/>
              </a:rPr>
              <a:t> Verifica vigencia, asigna lote no vencido, registra la venta y descuenta stock automáticamente.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000000"/>
                </a:solidFill>
                <a:latin typeface="Arial"/>
              </a:rPr>
              <a:t>– </a:t>
            </a:r>
            <a:r>
              <a:rPr b="1" sz="2000">
                <a:solidFill>
                  <a:srgbClr val="000000"/>
                </a:solidFill>
                <a:latin typeface="Arial"/>
              </a:rPr>
              <a:t>SP3 — Generar órdenes de reposición por stock mínimo.</a:t>
            </a:r>
            <a:r>
              <a:rPr sz="2000">
                <a:solidFill>
                  <a:srgbClr val="000000"/>
                </a:solidFill>
                <a:latin typeface="Arial"/>
              </a:rPr>
              <a:t> Evalúa stock ≤ mínimo y crea la orden sin duplicados.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109115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04040"/>
                </a:solidFill>
                <a:latin typeface="Arial"/>
              </a:rPr>
              <a:t>Farmacia con Consultorio Médico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37215" y="640080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04040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00000"/>
                </a:solidFill>
                <a:latin typeface="Arial"/>
              </a:rPr>
              <a:t>Automatización y trazabilidad: Triggers y LOG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261872"/>
            <a:ext cx="475488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554480"/>
            <a:ext cx="10911535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000000"/>
                </a:solidFill>
                <a:latin typeface="Arial"/>
              </a:rPr>
              <a:t>– </a:t>
            </a:r>
            <a:r>
              <a:rPr b="1" sz="2000">
                <a:solidFill>
                  <a:srgbClr val="000000"/>
                </a:solidFill>
                <a:latin typeface="Arial"/>
              </a:rPr>
              <a:t>Trigger 1 — BEFORE INSERT en Detalles_Receta.</a:t>
            </a:r>
            <a:r>
              <a:rPr sz="2000">
                <a:solidFill>
                  <a:srgbClr val="000000"/>
                </a:solidFill>
                <a:latin typeface="Arial"/>
              </a:rPr>
              <a:t> Bloquea recetas con contraindicaciones, interacciones o datos inválidos.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000000"/>
                </a:solidFill>
                <a:latin typeface="Arial"/>
              </a:rPr>
              <a:t>– </a:t>
            </a:r>
            <a:r>
              <a:rPr b="1" sz="2000">
                <a:solidFill>
                  <a:srgbClr val="000000"/>
                </a:solidFill>
                <a:latin typeface="Arial"/>
              </a:rPr>
              <a:t>Trigger 2 — AFTER UPDATE en Inventario.</a:t>
            </a:r>
            <a:r>
              <a:rPr sz="2000">
                <a:solidFill>
                  <a:srgbClr val="000000"/>
                </a:solidFill>
                <a:latin typeface="Arial"/>
              </a:rPr>
              <a:t> Registra cada movimiento de stock en la tabla LOG Auditoria_Inventario para trazabilidad total.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9377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500">
                <a:solidFill>
                  <a:srgbClr val="000000"/>
                </a:solidFill>
                <a:latin typeface="Arial"/>
              </a:rPr>
              <a:t>La automatización aplica las reglas de negocio sin intervención manual.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109115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04040"/>
                </a:solidFill>
                <a:latin typeface="Arial"/>
              </a:rPr>
              <a:t>Farmacia con Consultorio Médico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37215" y="640080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04040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00000"/>
                </a:solidFill>
                <a:latin typeface="Arial"/>
              </a:rPr>
              <a:t>Los datos en uso: conexión Java (JDBC)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261872"/>
            <a:ext cx="475488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554480"/>
            <a:ext cx="1091153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000000"/>
                </a:solidFill>
                <a:latin typeface="Arial"/>
              </a:rPr>
              <a:t>– App.java conecta a MySQL (instancia gestionada en Aiven, SSL).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000000"/>
                </a:solidFill>
                <a:latin typeface="Arial"/>
              </a:rPr>
              <a:t>– Credenciales fuera del código (variables de entorno seguras).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000000"/>
                </a:solidFill>
                <a:latin typeface="Arial"/>
              </a:rPr>
              <a:t>– Consulta Pacientes y despliega el Dataset resultante.</a:t>
            </a:r>
          </a:p>
        </p:txBody>
      </p:sp>
      <p:sp>
        <p:nvSpPr>
          <p:cNvPr id="5" name="Rectangle 4"/>
          <p:cNvSpPr/>
          <p:nvPr/>
        </p:nvSpPr>
        <p:spPr>
          <a:xfrm>
            <a:off x="1752447" y="3291840"/>
            <a:ext cx="86868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i="1" sz="1600">
                <a:solidFill>
                  <a:srgbClr val="404040"/>
                </a:solidFill>
                <a:latin typeface="Arial"/>
              </a:rPr>
              <a:t>[Captura de pantalla: salida de la ejecución de App.java]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109115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04040"/>
                </a:solidFill>
                <a:latin typeface="Arial"/>
              </a:rPr>
              <a:t>Farmacia con Consultorio Médico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37215" y="640080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04040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00000"/>
                </a:solidFill>
                <a:latin typeface="Arial"/>
              </a:rPr>
              <a:t>Validación: 3 ejemplos de SP y Triggers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261872"/>
            <a:ext cx="475488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554480"/>
            <a:ext cx="10911535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>
                <a:solidFill>
                  <a:srgbClr val="000000"/>
                </a:solidFill>
                <a:latin typeface="Arial"/>
              </a:rPr>
              <a:t>1.  </a:t>
            </a:r>
            <a:r>
              <a:rPr sz="1900" b="1">
                <a:solidFill>
                  <a:srgbClr val="000000"/>
                </a:solidFill>
                <a:latin typeface="Arial"/>
              </a:rPr>
              <a:t>SP1:</a:t>
            </a:r>
            <a:r>
              <a:rPr sz="1900">
                <a:solidFill>
                  <a:srgbClr val="000000"/>
                </a:solidFill>
                <a:latin typeface="Arial"/>
              </a:rPr>
              <a:t> receta a paciente con alergia ⇒ el sistema la rechaza con mensaje de riesgo clínico.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000000"/>
                </a:solidFill>
                <a:latin typeface="Arial"/>
              </a:rPr>
              <a:t>2.  </a:t>
            </a:r>
            <a:r>
              <a:rPr sz="1900" b="1">
                <a:solidFill>
                  <a:srgbClr val="000000"/>
                </a:solidFill>
                <a:latin typeface="Arial"/>
              </a:rPr>
              <a:t>SP2:</a:t>
            </a:r>
            <a:r>
              <a:rPr sz="1900">
                <a:solidFill>
                  <a:srgbClr val="000000"/>
                </a:solidFill>
                <a:latin typeface="Arial"/>
              </a:rPr>
              <a:t> surtir receta vigente ⇒ se registra la venta y disminuye el stock.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000000"/>
                </a:solidFill>
                <a:latin typeface="Arial"/>
              </a:rPr>
              <a:t>3.  </a:t>
            </a:r>
            <a:r>
              <a:rPr sz="1900" b="1">
                <a:solidFill>
                  <a:srgbClr val="000000"/>
                </a:solidFill>
                <a:latin typeface="Arial"/>
              </a:rPr>
              <a:t>Trigger 2:</a:t>
            </a:r>
            <a:r>
              <a:rPr sz="1900">
                <a:solidFill>
                  <a:srgbClr val="000000"/>
                </a:solidFill>
                <a:latin typeface="Arial"/>
              </a:rPr>
              <a:t> tras el surtido ⇒ registro automático en Auditoria_Inventario.</a:t>
            </a:r>
          </a:p>
        </p:txBody>
      </p:sp>
      <p:sp>
        <p:nvSpPr>
          <p:cNvPr id="5" name="Rectangle 4"/>
          <p:cNvSpPr/>
          <p:nvPr/>
        </p:nvSpPr>
        <p:spPr>
          <a:xfrm>
            <a:off x="1752447" y="4023360"/>
            <a:ext cx="86868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i="1" sz="1600">
                <a:solidFill>
                  <a:srgbClr val="404040"/>
                </a:solidFill>
                <a:latin typeface="Arial"/>
              </a:rPr>
              <a:t>[Captura de pantalla: ejecución de los 3 ejemplos con su resultado]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109115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04040"/>
                </a:solidFill>
                <a:latin typeface="Arial"/>
              </a:rPr>
              <a:t>Farmacia con Consultorio Médico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37215" y="640080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04040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00000"/>
                </a:solidFill>
                <a:latin typeface="Arial"/>
              </a:rPr>
              <a:t>¿Qué beneficios se obtendrán?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261872"/>
            <a:ext cx="475488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55448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000000"/>
                </a:solidFill>
                <a:latin typeface="Arial"/>
              </a:rPr>
              <a:t>– </a:t>
            </a:r>
            <a:r>
              <a:rPr b="1" sz="2000">
                <a:solidFill>
                  <a:srgbClr val="000000"/>
                </a:solidFill>
                <a:latin typeface="Arial"/>
              </a:rPr>
              <a:t>Atención más segura:</a:t>
            </a:r>
            <a:r>
              <a:rPr sz="2000">
                <a:solidFill>
                  <a:srgbClr val="000000"/>
                </a:solidFill>
                <a:latin typeface="Arial"/>
              </a:rPr>
              <a:t> validaciones clínicas automáticas.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000000"/>
                </a:solidFill>
                <a:latin typeface="Arial"/>
              </a:rPr>
              <a:t>– </a:t>
            </a:r>
            <a:r>
              <a:rPr b="1" sz="2000">
                <a:solidFill>
                  <a:srgbClr val="000000"/>
                </a:solidFill>
                <a:latin typeface="Arial"/>
              </a:rPr>
              <a:t>Menos pérdidas:</a:t>
            </a:r>
            <a:r>
              <a:rPr sz="2000">
                <a:solidFill>
                  <a:srgbClr val="000000"/>
                </a:solidFill>
                <a:latin typeface="Arial"/>
              </a:rPr>
              <a:t> control de inventario, caducidades y reposición.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000000"/>
                </a:solidFill>
                <a:latin typeface="Arial"/>
              </a:rPr>
              <a:t>– </a:t>
            </a:r>
            <a:r>
              <a:rPr b="1" sz="2000">
                <a:solidFill>
                  <a:srgbClr val="000000"/>
                </a:solidFill>
                <a:latin typeface="Arial"/>
              </a:rPr>
              <a:t>Trazabilidad:</a:t>
            </a:r>
            <a:r>
              <a:rPr sz="2000">
                <a:solidFill>
                  <a:srgbClr val="000000"/>
                </a:solidFill>
                <a:latin typeface="Arial"/>
              </a:rPr>
              <a:t> vínculo receta–venta y auditoría de inventario.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000000"/>
                </a:solidFill>
                <a:latin typeface="Arial"/>
              </a:rPr>
              <a:t>– </a:t>
            </a:r>
            <a:r>
              <a:rPr b="1" sz="2000">
                <a:solidFill>
                  <a:srgbClr val="000000"/>
                </a:solidFill>
                <a:latin typeface="Arial"/>
              </a:rPr>
              <a:t>Mejores decisiones:</a:t>
            </a:r>
            <a:r>
              <a:rPr sz="2000">
                <a:solidFill>
                  <a:srgbClr val="000000"/>
                </a:solidFill>
                <a:latin typeface="Arial"/>
              </a:rPr>
              <a:t> reportes de consumo para compras.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000000"/>
                </a:solidFill>
                <a:latin typeface="Arial"/>
              </a:rPr>
              <a:t>– </a:t>
            </a:r>
            <a:r>
              <a:rPr b="1" sz="2000">
                <a:solidFill>
                  <a:srgbClr val="000000"/>
                </a:solidFill>
                <a:latin typeface="Arial"/>
              </a:rPr>
              <a:t>Escalabilidad:</a:t>
            </a:r>
            <a:r>
              <a:rPr sz="2000">
                <a:solidFill>
                  <a:srgbClr val="000000"/>
                </a:solidFill>
                <a:latin typeface="Arial"/>
              </a:rPr>
              <a:t> base para un sistema de gestión completo.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109115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04040"/>
                </a:solidFill>
                <a:latin typeface="Arial"/>
              </a:rPr>
              <a:t>Farmacia con Consultorio Médico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37215" y="640080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04040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00000"/>
                </a:solidFill>
                <a:latin typeface="Arial"/>
              </a:rPr>
              <a:t>Conclusión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261872"/>
            <a:ext cx="475488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55448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000000"/>
                </a:solidFill>
                <a:latin typeface="Arial"/>
              </a:rPr>
              <a:t>– El problema operativo se atacó antes de la solución tecnológica.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000000"/>
                </a:solidFill>
                <a:latin typeface="Arial"/>
              </a:rPr>
              <a:t>– La base de datos integra historial, inventario y ventas con reglas de negocio automatizadas.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000000"/>
                </a:solidFill>
                <a:latin typeface="Arial"/>
              </a:rPr>
              <a:t>– Resultado: atención más segura, menos pérdidas y trazabilidad total.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109115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04040"/>
                </a:solidFill>
                <a:latin typeface="Arial"/>
              </a:rPr>
              <a:t>Farmacia con Consultorio Médico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37215" y="640080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04040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0362895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000000"/>
                </a:solidFill>
                <a:latin typeface="Arial"/>
              </a:rPr>
              <a:t>Gracias</a:t>
            </a:r>
          </a:p>
          <a:p>
            <a:pPr algn="ctr">
              <a:spcBef>
                <a:spcPts val="1000"/>
              </a:spcBef>
            </a:pPr>
            <a:r>
              <a:rPr sz="2000">
                <a:solidFill>
                  <a:srgbClr val="404040"/>
                </a:solidFill>
                <a:latin typeface="Arial"/>
              </a:rPr>
              <a:t>¿Preguntas?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
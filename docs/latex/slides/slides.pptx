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milenio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5741" y="457200"/>
            <a:ext cx="2135875" cy="685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194560"/>
            <a:ext cx="103628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3800" b="1">
                <a:solidFill>
                  <a:srgbClr val="000000"/>
                </a:solidFill>
                <a:latin typeface="Arial"/>
              </a:rPr>
              <a:t>Farmacia con Consultorio Médico</a:t>
            </a:r>
          </a:p>
          <a:p>
            <a:pPr algn="ctr">
              <a:spcAft>
                <a:spcPts val="500"/>
              </a:spcAft>
            </a:pPr>
            <a:r>
              <a:rPr sz="2000" b="0">
                <a:solidFill>
                  <a:srgbClr val="404040"/>
                </a:solidFill>
                <a:latin typeface="Arial"/>
              </a:rPr>
              <a:t>Gestión de Consultas y Medicamentos Recetados</a:t>
            </a:r>
          </a:p>
          <a:p>
            <a:pPr algn="ctr">
              <a:spcAft>
                <a:spcPts val="5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/>
            </a:r>
          </a:p>
          <a:p>
            <a:pPr algn="ctr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[Integrantes]</a:t>
            </a:r>
          </a:p>
          <a:p>
            <a:pPr algn="ctr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LSTI2311: Bases de Datos</a:t>
            </a:r>
          </a:p>
          <a:p>
            <a:pPr algn="ctr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Prof. [Profesor]</a:t>
            </a:r>
          </a:p>
          <a:p>
            <a:pPr algn="ctr">
              <a:spcAft>
                <a:spcPts val="500"/>
              </a:spcAft>
            </a:pPr>
            <a:r>
              <a:rPr sz="1300" b="0">
                <a:solidFill>
                  <a:srgbClr val="404040"/>
                </a:solidFill>
                <a:latin typeface="Arial"/>
              </a:rPr>
              <a:t>26 de septiembre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¿Qué empresa representamos?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170432"/>
            <a:ext cx="475488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37160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b="1" sz="1800">
                <a:solidFill>
                  <a:srgbClr val="000000"/>
                </a:solidFill>
                <a:latin typeface="Arial"/>
              </a:rPr>
              <a:t>Quiénes somos</a:t>
            </a:r>
          </a:p>
          <a:p>
            <a:pPr lvl="1">
              <a:spcAft>
                <a:spcPts val="400"/>
              </a:spcAft>
            </a:pPr>
            <a:r>
              <a:rPr sz="1800">
                <a:solidFill>
                  <a:srgbClr val="000000"/>
                </a:solidFill>
                <a:latin typeface="Arial"/>
              </a:rPr>
              <a:t>– Consultorio médico con farmacia asociada.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b="1" sz="1800">
                <a:solidFill>
                  <a:srgbClr val="000000"/>
                </a:solidFill>
                <a:latin typeface="Arial"/>
              </a:rPr>
              <a:t>Qué áreas intervienen</a:t>
            </a:r>
          </a:p>
          <a:p>
            <a:pPr lvl="1">
              <a:spcAft>
                <a:spcPts val="400"/>
              </a:spcAft>
            </a:pPr>
            <a:r>
              <a:rPr sz="1800">
                <a:solidFill>
                  <a:srgbClr val="000000"/>
                </a:solidFill>
                <a:latin typeface="Arial"/>
              </a:rPr>
              <a:t>– Consultorio (médicos), farmacia (dispensación), compras (proveedores) y administración.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b="1" sz="1800">
                <a:solidFill>
                  <a:srgbClr val="000000"/>
                </a:solidFill>
                <a:latin typeface="Arial"/>
              </a:rPr>
              <a:t>Cómo se relacionan el consultorio y la farmacia</a:t>
            </a:r>
          </a:p>
          <a:p>
            <a:pPr lvl="1">
              <a:spcAft>
                <a:spcPts val="400"/>
              </a:spcAft>
            </a:pPr>
            <a:r>
              <a:rPr sz="1800">
                <a:solidFill>
                  <a:srgbClr val="000000"/>
                </a:solidFill>
                <a:latin typeface="Arial"/>
              </a:rPr>
              <a:t>– El médico consulta y emite la receta; la farmacia la surte y registra la venta.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04040"/>
                </a:solidFill>
                <a:latin typeface="Arial"/>
              </a:rPr>
              <a:t>Farmacia con Consultorio Médico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04040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¿Cuál es la problemática actual?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170432"/>
            <a:ext cx="475488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8016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b="1" sz="1600">
                <a:solidFill>
                  <a:srgbClr val="000000"/>
                </a:solidFill>
                <a:latin typeface="Arial"/>
              </a:rPr>
              <a:t>Situación actual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– Desconexión entre la farmacia y el consultorio.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– Operan como dos negocios distintos: información y procesos separados.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– Experiencia de usuario fragmentada: sin datos de fidelidad ni conocimiento de la conversión de recetas.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b="1" sz="1600">
                <a:solidFill>
                  <a:srgbClr val="000000"/>
                </a:solidFill>
                <a:latin typeface="Arial"/>
              </a:rPr>
              <a:t>Manejo de la información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– La información se administra de forma arcaica.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– Uso de papel; datos dispersos, no centralizados ni conectados para generar información estratégica.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b="1" sz="1600">
                <a:solidFill>
                  <a:srgbClr val="000000"/>
                </a:solidFill>
                <a:latin typeface="Arial"/>
              </a:rPr>
              <a:t>Principales problemas identificados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– Ausencia de automatización.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– Desabasto de medicamentos clave y mermas por caducidad no detectada.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– Procesos manuales que retrasan la reposición y provocan errores de dispensación.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04040"/>
                </a:solidFill>
                <a:latin typeface="Arial"/>
              </a:rPr>
              <a:t>Farmacia con Consultorio Médico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04040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¿Cuál es el impacto?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170432"/>
            <a:ext cx="475488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37160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b="1" sz="1800">
                <a:solidFill>
                  <a:srgbClr val="000000"/>
                </a:solidFill>
                <a:latin typeface="Arial"/>
              </a:rPr>
              <a:t>Impacto en los pacientes</a:t>
            </a:r>
          </a:p>
          <a:p>
            <a:pPr lvl="1">
              <a:spcAft>
                <a:spcPts val="400"/>
              </a:spcAft>
            </a:pPr>
            <a:r>
              <a:rPr sz="1800">
                <a:solidFill>
                  <a:srgbClr val="000000"/>
                </a:solidFill>
                <a:latin typeface="Arial"/>
              </a:rPr>
              <a:t>– Experiencias distintas entre consultorio y farmacia.</a:t>
            </a:r>
          </a:p>
          <a:p>
            <a:pPr lvl="1">
              <a:spcAft>
                <a:spcPts val="400"/>
              </a:spcAft>
            </a:pPr>
            <a:r>
              <a:rPr sz="1800">
                <a:solidFill>
                  <a:srgbClr val="000000"/>
                </a:solidFill>
                <a:latin typeface="Arial"/>
              </a:rPr>
              <a:t>– Creación de doble perfil.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b="1" sz="1800">
                <a:solidFill>
                  <a:srgbClr val="000000"/>
                </a:solidFill>
                <a:latin typeface="Arial"/>
              </a:rPr>
              <a:t>Impacto en la atención</a:t>
            </a:r>
          </a:p>
          <a:p>
            <a:pPr lvl="1">
              <a:spcAft>
                <a:spcPts val="400"/>
              </a:spcAft>
            </a:pPr>
            <a:r>
              <a:rPr sz="1800">
                <a:solidFill>
                  <a:srgbClr val="000000"/>
                </a:solidFill>
                <a:latin typeface="Arial"/>
              </a:rPr>
              <a:t>– Atención lenta y fragmentada.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b="1" sz="1800">
                <a:solidFill>
                  <a:srgbClr val="000000"/>
                </a:solidFill>
                <a:latin typeface="Arial"/>
              </a:rPr>
              <a:t>Impacto en la farmacia</a:t>
            </a:r>
          </a:p>
          <a:p>
            <a:pPr lvl="1">
              <a:spcAft>
                <a:spcPts val="400"/>
              </a:spcAft>
            </a:pPr>
            <a:r>
              <a:rPr sz="1800">
                <a:solidFill>
                  <a:srgbClr val="000000"/>
                </a:solidFill>
                <a:latin typeface="Arial"/>
              </a:rPr>
              <a:t>– Desconocimiento del rendimiento del negocio.</a:t>
            </a:r>
          </a:p>
          <a:p>
            <a:pPr lvl="1">
              <a:spcAft>
                <a:spcPts val="400"/>
              </a:spcAft>
            </a:pPr>
            <a:r>
              <a:rPr sz="1800">
                <a:solidFill>
                  <a:srgbClr val="000000"/>
                </a:solidFill>
                <a:latin typeface="Arial"/>
              </a:rPr>
              <a:t>– Pérdida de ventas.</a:t>
            </a:r>
          </a:p>
          <a:p>
            <a:pPr lvl="1">
              <a:spcAft>
                <a:spcPts val="400"/>
              </a:spcAft>
            </a:pPr>
            <a:r>
              <a:rPr sz="1800">
                <a:solidFill>
                  <a:srgbClr val="000000"/>
                </a:solidFill>
                <a:latin typeface="Arial"/>
              </a:rPr>
              <a:t>– Ausencia de competitividad.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04040"/>
                </a:solidFill>
                <a:latin typeface="Arial"/>
              </a:rPr>
              <a:t>Farmacia con Consultorio Médico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04040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¿Cuál es la causa raíz?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170432"/>
            <a:ext cx="475488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37160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b="1" sz="1800">
                <a:solidFill>
                  <a:srgbClr val="000000"/>
                </a:solidFill>
                <a:latin typeface="Arial"/>
              </a:rPr>
              <a:t>Falta de integración de la información</a:t>
            </a:r>
          </a:p>
          <a:p>
            <a:pPr lvl="1">
              <a:spcAft>
                <a:spcPts val="400"/>
              </a:spcAft>
            </a:pPr>
            <a:r>
              <a:rPr sz="1800">
                <a:solidFill>
                  <a:srgbClr val="000000"/>
                </a:solidFill>
                <a:latin typeface="Arial"/>
              </a:rPr>
              <a:t>– Consultorio y farmacia no comparten una misma fuente de datos.</a:t>
            </a:r>
          </a:p>
          <a:p>
            <a:pPr lvl="1">
              <a:spcAft>
                <a:spcPts val="400"/>
              </a:spcAft>
            </a:pPr>
            <a:r>
              <a:rPr sz="1800">
                <a:solidFill>
                  <a:srgbClr val="000000"/>
                </a:solidFill>
                <a:latin typeface="Arial"/>
              </a:rPr>
              <a:t>– Información dispersa y en papel: se duplica y no se conecta.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b="1" sz="1800">
                <a:solidFill>
                  <a:srgbClr val="000000"/>
                </a:solidFill>
                <a:latin typeface="Arial"/>
              </a:rPr>
              <a:t>Procesos manuales</a:t>
            </a:r>
          </a:p>
          <a:p>
            <a:pPr lvl="1">
              <a:spcAft>
                <a:spcPts val="400"/>
              </a:spcAft>
            </a:pPr>
            <a:r>
              <a:rPr sz="1800">
                <a:solidFill>
                  <a:srgbClr val="000000"/>
                </a:solidFill>
                <a:latin typeface="Arial"/>
              </a:rPr>
              <a:t>– Operación dependiente de tareas manuales, sin conexión entre áreas.</a:t>
            </a:r>
          </a:p>
          <a:p>
            <a:pPr lvl="1">
              <a:spcAft>
                <a:spcPts val="400"/>
              </a:spcAft>
            </a:pPr>
            <a:r>
              <a:rPr sz="1800">
                <a:solidFill>
                  <a:srgbClr val="000000"/>
                </a:solidFill>
                <a:latin typeface="Arial"/>
              </a:rPr>
              <a:t>– No hay un flujo estandarizado de la información.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b="1" sz="1800">
                <a:solidFill>
                  <a:srgbClr val="000000"/>
                </a:solidFill>
                <a:latin typeface="Arial"/>
              </a:rPr>
              <a:t>Falta de validaciones y controles</a:t>
            </a:r>
          </a:p>
          <a:p>
            <a:pPr lvl="1">
              <a:spcAft>
                <a:spcPts val="400"/>
              </a:spcAft>
            </a:pPr>
            <a:r>
              <a:rPr sz="1800">
                <a:solidFill>
                  <a:srgbClr val="000000"/>
                </a:solidFill>
                <a:latin typeface="Arial"/>
              </a:rPr>
              <a:t>– Sin reglas de negocio aplicadas de forma automática.</a:t>
            </a:r>
          </a:p>
          <a:p>
            <a:pPr lvl="1">
              <a:spcAft>
                <a:spcPts val="400"/>
              </a:spcAft>
            </a:pPr>
            <a:r>
              <a:rPr sz="1800">
                <a:solidFill>
                  <a:srgbClr val="000000"/>
                </a:solidFill>
                <a:latin typeface="Arial"/>
              </a:rPr>
              <a:t>– Sin control de inventario, caducidades ni trazabilidad receta–venta.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04040"/>
                </a:solidFill>
                <a:latin typeface="Arial"/>
              </a:rPr>
              <a:t>Farmacia con Consultorio Médico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04040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¿Qué estrategia debemos seguir?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170432"/>
            <a:ext cx="475488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63040"/>
            <a:ext cx="1091153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900">
                <a:solidFill>
                  <a:srgbClr val="000000"/>
                </a:solidFill>
                <a:latin typeface="Arial"/>
              </a:rPr>
              <a:t>– </a:t>
            </a:r>
            <a:r>
              <a:rPr b="1" sz="1900">
                <a:solidFill>
                  <a:srgbClr val="000000"/>
                </a:solidFill>
                <a:latin typeface="Arial"/>
              </a:rPr>
              <a:t>Entender las reglas del negocio:</a:t>
            </a:r>
            <a:r>
              <a:rPr sz="1900">
                <a:solidFill>
                  <a:srgbClr val="000000"/>
                </a:solidFill>
                <a:latin typeface="Arial"/>
              </a:rPr>
              <a:t> qué se valida, qué se controla.</a:t>
            </a:r>
          </a:p>
          <a:p>
            <a:pPr>
              <a:spcAft>
                <a:spcPts val="400"/>
              </a:spcAft>
            </a:pPr>
            <a:r>
              <a:rPr sz="1900">
                <a:solidFill>
                  <a:srgbClr val="000000"/>
                </a:solidFill>
                <a:latin typeface="Arial"/>
              </a:rPr>
              <a:t>– </a:t>
            </a:r>
            <a:r>
              <a:rPr b="1" sz="1900">
                <a:solidFill>
                  <a:srgbClr val="000000"/>
                </a:solidFill>
                <a:latin typeface="Arial"/>
              </a:rPr>
              <a:t>Mapear el proceso actual:</a:t>
            </a:r>
            <a:r>
              <a:rPr sz="1900">
                <a:solidFill>
                  <a:srgbClr val="000000"/>
                </a:solidFill>
                <a:latin typeface="Arial"/>
              </a:rPr>
              <a:t> de la consulta a la venta y la reposición.</a:t>
            </a:r>
          </a:p>
          <a:p>
            <a:pPr>
              <a:spcAft>
                <a:spcPts val="400"/>
              </a:spcAft>
            </a:pPr>
            <a:r>
              <a:rPr sz="1900">
                <a:solidFill>
                  <a:srgbClr val="000000"/>
                </a:solidFill>
                <a:latin typeface="Arial"/>
              </a:rPr>
              <a:t>– </a:t>
            </a:r>
            <a:r>
              <a:rPr b="1" sz="1900">
                <a:solidFill>
                  <a:srgbClr val="000000"/>
                </a:solidFill>
                <a:latin typeface="Arial"/>
              </a:rPr>
              <a:t>Estandarizar la operación:</a:t>
            </a:r>
            <a:r>
              <a:rPr sz="1900">
                <a:solidFill>
                  <a:srgbClr val="000000"/>
                </a:solidFill>
                <a:latin typeface="Arial"/>
              </a:rPr>
              <a:t> un flujo único y ordenado.</a:t>
            </a:r>
          </a:p>
          <a:p>
            <a:pPr>
              <a:spcAft>
                <a:spcPts val="400"/>
              </a:spcAft>
            </a:pPr>
            <a:r>
              <a:rPr sz="1900">
                <a:solidFill>
                  <a:srgbClr val="000000"/>
                </a:solidFill>
                <a:latin typeface="Arial"/>
              </a:rPr>
              <a:t>– </a:t>
            </a:r>
            <a:r>
              <a:rPr b="1" sz="1900">
                <a:solidFill>
                  <a:srgbClr val="000000"/>
                </a:solidFill>
                <a:latin typeface="Arial"/>
              </a:rPr>
              <a:t>Centralizar la información:</a:t>
            </a:r>
            <a:r>
              <a:rPr sz="1900">
                <a:solidFill>
                  <a:srgbClr val="000000"/>
                </a:solidFill>
                <a:latin typeface="Arial"/>
              </a:rPr>
              <a:t> una sola fuente de verdad.</a:t>
            </a:r>
          </a:p>
          <a:p>
            <a:pPr>
              <a:spcAft>
                <a:spcPts val="400"/>
              </a:spcAft>
            </a:pPr>
            <a:r>
              <a:rPr sz="1900">
                <a:solidFill>
                  <a:srgbClr val="000000"/>
                </a:solidFill>
                <a:latin typeface="Arial"/>
              </a:rPr>
              <a:t>– </a:t>
            </a:r>
            <a:r>
              <a:rPr b="1" sz="1900">
                <a:solidFill>
                  <a:srgbClr val="000000"/>
                </a:solidFill>
                <a:latin typeface="Arial"/>
              </a:rPr>
              <a:t>Automatizar los procesos:</a:t>
            </a:r>
            <a:r>
              <a:rPr sz="1900">
                <a:solidFill>
                  <a:srgbClr val="000000"/>
                </a:solidFill>
                <a:latin typeface="Arial"/>
              </a:rPr>
              <a:t> validaciones y registros sin intervención manual.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03520"/>
            <a:ext cx="1091153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i="1" sz="1400">
                <a:solidFill>
                  <a:srgbClr val="404040"/>
                </a:solidFill>
                <a:latin typeface="Arial"/>
              </a:rPr>
              <a:t>Primero la operación, luego la tecnología.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04040"/>
                </a:solidFill>
                <a:latin typeface="Arial"/>
              </a:rPr>
              <a:t>Farmacia con Consultorio Médico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04040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¿Cuál es nuestra solución tecnológica?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170432"/>
            <a:ext cx="475488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63040"/>
            <a:ext cx="1091153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900">
                <a:solidFill>
                  <a:srgbClr val="000000"/>
                </a:solidFill>
                <a:latin typeface="Arial"/>
              </a:rPr>
              <a:t>– </a:t>
            </a:r>
            <a:r>
              <a:rPr b="1" sz="1900">
                <a:solidFill>
                  <a:srgbClr val="000000"/>
                </a:solidFill>
                <a:latin typeface="Arial"/>
              </a:rPr>
              <a:t>Base de datos relacional en MySQL:</a:t>
            </a:r>
            <a:r>
              <a:rPr sz="1900">
                <a:solidFill>
                  <a:srgbClr val="000000"/>
                </a:solidFill>
                <a:latin typeface="Arial"/>
              </a:rPr>
              <a:t> centraliza toda la información.</a:t>
            </a:r>
          </a:p>
          <a:p>
            <a:pPr>
              <a:spcAft>
                <a:spcPts val="400"/>
              </a:spcAft>
            </a:pPr>
            <a:r>
              <a:rPr sz="1900">
                <a:solidFill>
                  <a:srgbClr val="000000"/>
                </a:solidFill>
                <a:latin typeface="Arial"/>
              </a:rPr>
              <a:t>– </a:t>
            </a:r>
            <a:r>
              <a:rPr b="1" sz="1900">
                <a:solidFill>
                  <a:srgbClr val="000000"/>
                </a:solidFill>
                <a:latin typeface="Arial"/>
              </a:rPr>
              <a:t>Modelo Entidad-Relación:</a:t>
            </a:r>
            <a:r>
              <a:rPr sz="1900">
                <a:solidFill>
                  <a:srgbClr val="000000"/>
                </a:solidFill>
                <a:latin typeface="Arial"/>
              </a:rPr>
              <a:t> 20 tablas con claves y relaciones definidas.</a:t>
            </a:r>
          </a:p>
          <a:p>
            <a:pPr>
              <a:spcAft>
                <a:spcPts val="400"/>
              </a:spcAft>
            </a:pPr>
            <a:r>
              <a:rPr sz="1900">
                <a:solidFill>
                  <a:srgbClr val="000000"/>
                </a:solidFill>
                <a:latin typeface="Arial"/>
              </a:rPr>
              <a:t>– </a:t>
            </a:r>
            <a:r>
              <a:rPr b="1" sz="1900">
                <a:solidFill>
                  <a:srgbClr val="000000"/>
                </a:solidFill>
                <a:latin typeface="Arial"/>
              </a:rPr>
              <a:t>Integración de consultorio y farmacia:</a:t>
            </a:r>
            <a:r>
              <a:rPr sz="1900">
                <a:solidFill>
                  <a:srgbClr val="000000"/>
                </a:solidFill>
                <a:latin typeface="Arial"/>
              </a:rPr>
              <a:t> un solo sistema, sin islas de datos.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54880"/>
            <a:ext cx="1091153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i="1" sz="1400">
                <a:solidFill>
                  <a:srgbClr val="404040"/>
                </a:solidFill>
                <a:latin typeface="Arial"/>
              </a:rPr>
              <a:t>Evidencia: Modelo Entidad-Relación (siguiente diapositiva).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04040"/>
                </a:solidFill>
                <a:latin typeface="Arial"/>
              </a:rPr>
              <a:t>Farmacia con Consultorio Médico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04040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hatsApp Image 2026-09-25 at 09.53.2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78745"/>
            <a:ext cx="12191695" cy="510050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¿Cómo se gestionan los datos?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170432"/>
            <a:ext cx="475488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37160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b="1" sz="1700">
                <a:solidFill>
                  <a:srgbClr val="000000"/>
                </a:solidFill>
                <a:latin typeface="Arial"/>
              </a:rPr>
              <a:t>Flujo de la información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000000"/>
                </a:solidFill>
                <a:latin typeface="Arial"/>
              </a:rPr>
              <a:t>– Paciente → consulta → receta → surtido → venta → inventario → reposición.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b="1" sz="1700">
                <a:solidFill>
                  <a:srgbClr val="000000"/>
                </a:solidFill>
                <a:latin typeface="Arial"/>
              </a:rPr>
              <a:t>Información clínica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000000"/>
                </a:solidFill>
                <a:latin typeface="Arial"/>
              </a:rPr>
              <a:t>– Historial, diagnósticos, alergias y contraindicaciones del paciente.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b="1" sz="1700">
                <a:solidFill>
                  <a:srgbClr val="000000"/>
                </a:solidFill>
                <a:latin typeface="Arial"/>
              </a:rPr>
              <a:t>Recetas y medicamentos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000000"/>
                </a:solidFill>
                <a:latin typeface="Arial"/>
              </a:rPr>
              <a:t>– Recetas vinculadas a consulta, medicamento, dosis y duración.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b="1" sz="1700">
                <a:solidFill>
                  <a:srgbClr val="000000"/>
                </a:solidFill>
                <a:latin typeface="Arial"/>
              </a:rPr>
              <a:t>Inventario y ventas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000000"/>
                </a:solidFill>
                <a:latin typeface="Arial"/>
              </a:rPr>
              <a:t>– Stock por lote, caducidades, ventas y su vínculo con la receta.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04040"/>
                </a:solidFill>
                <a:latin typeface="Arial"/>
              </a:rPr>
              <a:t>Farmacia con Consultorio Médico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04040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¿Cómo automatizamos los procesos?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170432"/>
            <a:ext cx="475488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371600"/>
            <a:ext cx="1091153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000000"/>
                </a:solidFill>
                <a:latin typeface="Arial"/>
              </a:rPr>
              <a:t>– </a:t>
            </a:r>
            <a:r>
              <a:rPr b="1" sz="1700">
                <a:solidFill>
                  <a:srgbClr val="000000"/>
                </a:solidFill>
                <a:latin typeface="Arial"/>
              </a:rPr>
              <a:t>Vistas:</a:t>
            </a:r>
            <a:r>
              <a:rPr sz="1700">
                <a:solidFill>
                  <a:srgbClr val="000000"/>
                </a:solidFill>
                <a:latin typeface="Arial"/>
              </a:rPr>
              <a:t> historial clínico, inventario con alertas y medicamentos más recetados/surtidos.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000000"/>
                </a:solidFill>
                <a:latin typeface="Arial"/>
              </a:rPr>
              <a:t>– </a:t>
            </a:r>
            <a:r>
              <a:rPr b="1" sz="1700">
                <a:solidFill>
                  <a:srgbClr val="000000"/>
                </a:solidFill>
                <a:latin typeface="Arial"/>
              </a:rPr>
              <a:t>Stored Procedures:</a:t>
            </a:r>
            <a:r>
              <a:rPr sz="1700">
                <a:solidFill>
                  <a:srgbClr val="000000"/>
                </a:solidFill>
                <a:latin typeface="Arial"/>
              </a:rPr>
              <a:t> registrar consulta/receta, surtir receta y generar reposición.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000000"/>
                </a:solidFill>
                <a:latin typeface="Arial"/>
              </a:rPr>
              <a:t>– </a:t>
            </a:r>
            <a:r>
              <a:rPr b="1" sz="1700">
                <a:solidFill>
                  <a:srgbClr val="000000"/>
                </a:solidFill>
                <a:latin typeface="Arial"/>
              </a:rPr>
              <a:t>Triggers:</a:t>
            </a:r>
            <a:r>
              <a:rPr sz="1700">
                <a:solidFill>
                  <a:srgbClr val="000000"/>
                </a:solidFill>
                <a:latin typeface="Arial"/>
              </a:rPr>
              <a:t> validan recetas y disparan la auditoría de inventario.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000000"/>
                </a:solidFill>
                <a:latin typeface="Arial"/>
              </a:rPr>
              <a:t>– </a:t>
            </a:r>
            <a:r>
              <a:rPr b="1" sz="1700">
                <a:solidFill>
                  <a:srgbClr val="000000"/>
                </a:solidFill>
                <a:latin typeface="Arial"/>
              </a:rPr>
              <a:t>LOG de auditoría:</a:t>
            </a:r>
            <a:r>
              <a:rPr sz="1700">
                <a:solidFill>
                  <a:srgbClr val="000000"/>
                </a:solidFill>
                <a:latin typeface="Arial"/>
              </a:rPr>
              <a:t> tabla Auditoria_Inventario con cada movimiento de stock.</a:t>
            </a:r>
          </a:p>
        </p:txBody>
      </p:sp>
      <p:sp>
        <p:nvSpPr>
          <p:cNvPr id="5" name="Rectangle 4"/>
          <p:cNvSpPr/>
          <p:nvPr/>
        </p:nvSpPr>
        <p:spPr>
          <a:xfrm>
            <a:off x="1981047" y="4572000"/>
            <a:ext cx="82296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i="1" sz="1500">
                <a:solidFill>
                  <a:srgbClr val="404040"/>
                </a:solidFill>
                <a:latin typeface="Arial"/>
              </a:rPr>
              <a:t>[Evidencia: resultados reales de la BD (vistas / SP / triggers)]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04040"/>
                </a:solidFill>
                <a:latin typeface="Arial"/>
              </a:rPr>
              <a:t>Farmacia con Consultorio Médico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04040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¿Cómo aplicamos las reglas de negocio?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170432"/>
            <a:ext cx="475488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371600"/>
            <a:ext cx="1091153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000000"/>
                </a:solidFill>
                <a:latin typeface="Arial"/>
              </a:rPr>
              <a:t>– </a:t>
            </a:r>
            <a:r>
              <a:rPr b="1" sz="1700">
                <a:solidFill>
                  <a:srgbClr val="000000"/>
                </a:solidFill>
                <a:latin typeface="Arial"/>
              </a:rPr>
              <a:t>Validación de pacientes y médicos:</a:t>
            </a:r>
            <a:r>
              <a:rPr sz="1700">
                <a:solidFill>
                  <a:srgbClr val="000000"/>
                </a:solidFill>
                <a:latin typeface="Arial"/>
              </a:rPr>
              <a:t> paciente activo y médico con cédula vigente.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000000"/>
                </a:solidFill>
                <a:latin typeface="Arial"/>
              </a:rPr>
              <a:t>– </a:t>
            </a:r>
            <a:r>
              <a:rPr b="1" sz="1700">
                <a:solidFill>
                  <a:srgbClr val="000000"/>
                </a:solidFill>
                <a:latin typeface="Arial"/>
              </a:rPr>
              <a:t>Alergias y contraindicaciones:</a:t>
            </a:r>
            <a:r>
              <a:rPr sz="1700">
                <a:solidFill>
                  <a:srgbClr val="000000"/>
                </a:solidFill>
                <a:latin typeface="Arial"/>
              </a:rPr>
              <a:t> se verifican contra los medicamentos recetados.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000000"/>
                </a:solidFill>
                <a:latin typeface="Arial"/>
              </a:rPr>
              <a:t>– </a:t>
            </a:r>
            <a:r>
              <a:rPr b="1" sz="1700">
                <a:solidFill>
                  <a:srgbClr val="000000"/>
                </a:solidFill>
                <a:latin typeface="Arial"/>
              </a:rPr>
              <a:t>Interacciones medicamentosas:</a:t>
            </a:r>
            <a:r>
              <a:rPr sz="1700">
                <a:solidFill>
                  <a:srgbClr val="000000"/>
                </a:solidFill>
                <a:latin typeface="Arial"/>
              </a:rPr>
              <a:t> se bloquean combinaciones peligrosas.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000000"/>
                </a:solidFill>
                <a:latin typeface="Arial"/>
              </a:rPr>
              <a:t>– </a:t>
            </a:r>
            <a:r>
              <a:rPr b="1" sz="1700">
                <a:solidFill>
                  <a:srgbClr val="000000"/>
                </a:solidFill>
                <a:latin typeface="Arial"/>
              </a:rPr>
              <a:t>Validación de recetas:</a:t>
            </a:r>
            <a:r>
              <a:rPr sz="1700">
                <a:solidFill>
                  <a:srgbClr val="000000"/>
                </a:solidFill>
                <a:latin typeface="Arial"/>
              </a:rPr>
              <a:t> dosis, duración y vigencia dentro de rango.</a:t>
            </a:r>
          </a:p>
        </p:txBody>
      </p:sp>
      <p:sp>
        <p:nvSpPr>
          <p:cNvPr id="5" name="Rectangle 4"/>
          <p:cNvSpPr/>
          <p:nvPr/>
        </p:nvSpPr>
        <p:spPr>
          <a:xfrm>
            <a:off x="1981047" y="4572000"/>
            <a:ext cx="82296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i="1" sz="1500">
                <a:solidFill>
                  <a:srgbClr val="404040"/>
                </a:solidFill>
                <a:latin typeface="Arial"/>
              </a:rPr>
              <a:t>[Evidencia: mensaje real de validación/error]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04040"/>
                </a:solidFill>
                <a:latin typeface="Arial"/>
              </a:rPr>
              <a:t>Farmacia con Consultorio Médico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04040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¿Cómo controlamos el inventario?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170432"/>
            <a:ext cx="475488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371600"/>
            <a:ext cx="1091153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000000"/>
                </a:solidFill>
                <a:latin typeface="Arial"/>
              </a:rPr>
              <a:t>– </a:t>
            </a:r>
            <a:r>
              <a:rPr b="1" sz="1700">
                <a:solidFill>
                  <a:srgbClr val="000000"/>
                </a:solidFill>
                <a:latin typeface="Arial"/>
              </a:rPr>
              <a:t>Stock de medicamentos:</a:t>
            </a:r>
            <a:r>
              <a:rPr sz="1700">
                <a:solidFill>
                  <a:srgbClr val="000000"/>
                </a:solidFill>
                <a:latin typeface="Arial"/>
              </a:rPr>
              <a:t> estado suficiente / bajo / crítico / agotado.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000000"/>
                </a:solidFill>
                <a:latin typeface="Arial"/>
              </a:rPr>
              <a:t>– </a:t>
            </a:r>
            <a:r>
              <a:rPr b="1" sz="1700">
                <a:solidFill>
                  <a:srgbClr val="000000"/>
                </a:solidFill>
                <a:latin typeface="Arial"/>
              </a:rPr>
              <a:t>Lotes y caducidades:</a:t>
            </a:r>
            <a:r>
              <a:rPr sz="1700">
                <a:solidFill>
                  <a:srgbClr val="000000"/>
                </a:solidFill>
                <a:latin typeface="Arial"/>
              </a:rPr>
              <a:t> se dispensa el lote no vencido más próximo a caducar.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000000"/>
                </a:solidFill>
                <a:latin typeface="Arial"/>
              </a:rPr>
              <a:t>– </a:t>
            </a:r>
            <a:r>
              <a:rPr b="1" sz="1700">
                <a:solidFill>
                  <a:srgbClr val="000000"/>
                </a:solidFill>
                <a:latin typeface="Arial"/>
              </a:rPr>
              <a:t>Reposición:</a:t>
            </a:r>
            <a:r>
              <a:rPr sz="1700">
                <a:solidFill>
                  <a:srgbClr val="000000"/>
                </a:solidFill>
                <a:latin typeface="Arial"/>
              </a:rPr>
              <a:t> órdenes automáticas al llegar al stock mínimo.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000000"/>
                </a:solidFill>
                <a:latin typeface="Arial"/>
              </a:rPr>
              <a:t>– </a:t>
            </a:r>
            <a:r>
              <a:rPr b="1" sz="1700">
                <a:solidFill>
                  <a:srgbClr val="000000"/>
                </a:solidFill>
                <a:latin typeface="Arial"/>
              </a:rPr>
              <a:t>Auditoría de movimientos:</a:t>
            </a:r>
            <a:r>
              <a:rPr sz="1700">
                <a:solidFill>
                  <a:srgbClr val="000000"/>
                </a:solidFill>
                <a:latin typeface="Arial"/>
              </a:rPr>
              <a:t> cada cambio de stock queda registrado.</a:t>
            </a:r>
          </a:p>
        </p:txBody>
      </p:sp>
      <p:sp>
        <p:nvSpPr>
          <p:cNvPr id="5" name="Rectangle 4"/>
          <p:cNvSpPr/>
          <p:nvPr/>
        </p:nvSpPr>
        <p:spPr>
          <a:xfrm>
            <a:off x="1981047" y="4572000"/>
            <a:ext cx="82296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i="1" sz="1500">
                <a:solidFill>
                  <a:srgbClr val="404040"/>
                </a:solidFill>
                <a:latin typeface="Arial"/>
              </a:rPr>
              <a:t>[Evidencia: inventario + LOG de auditoría]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04040"/>
                </a:solidFill>
                <a:latin typeface="Arial"/>
              </a:rPr>
              <a:t>Farmacia con Consultorio Médico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04040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¿Cómo integramos operación y tecnología?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170432"/>
            <a:ext cx="475488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371600"/>
            <a:ext cx="1091153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000000"/>
                </a:solidFill>
                <a:latin typeface="Arial"/>
              </a:rPr>
              <a:t>– </a:t>
            </a:r>
            <a:r>
              <a:rPr b="1" sz="1700">
                <a:solidFill>
                  <a:srgbClr val="000000"/>
                </a:solidFill>
                <a:latin typeface="Arial"/>
              </a:rPr>
              <a:t>Proceso operativo:</a:t>
            </a:r>
            <a:r>
              <a:rPr sz="1700">
                <a:solidFill>
                  <a:srgbClr val="000000"/>
                </a:solidFill>
                <a:latin typeface="Arial"/>
              </a:rPr>
              <a:t> el flujo real del negocio, estandarizado.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000000"/>
                </a:solidFill>
                <a:latin typeface="Arial"/>
              </a:rPr>
              <a:t>– </a:t>
            </a:r>
            <a:r>
              <a:rPr b="1" sz="1700">
                <a:solidFill>
                  <a:srgbClr val="000000"/>
                </a:solidFill>
                <a:latin typeface="Arial"/>
              </a:rPr>
              <a:t>Reglas de negocio:</a:t>
            </a:r>
            <a:r>
              <a:rPr sz="1700">
                <a:solidFill>
                  <a:srgbClr val="000000"/>
                </a:solidFill>
                <a:latin typeface="Arial"/>
              </a:rPr>
              <a:t> llevadas a restricciones, SP y triggers.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000000"/>
                </a:solidFill>
                <a:latin typeface="Arial"/>
              </a:rPr>
              <a:t>– </a:t>
            </a:r>
            <a:r>
              <a:rPr b="1" sz="1700">
                <a:solidFill>
                  <a:srgbClr val="000000"/>
                </a:solidFill>
                <a:latin typeface="Arial"/>
              </a:rPr>
              <a:t>Base de datos:</a:t>
            </a:r>
            <a:r>
              <a:rPr sz="1700">
                <a:solidFill>
                  <a:srgbClr val="000000"/>
                </a:solidFill>
                <a:latin typeface="Arial"/>
              </a:rPr>
              <a:t> MySQL como fuente única de verdad.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000000"/>
                </a:solidFill>
                <a:latin typeface="Arial"/>
              </a:rPr>
              <a:t>– </a:t>
            </a:r>
            <a:r>
              <a:rPr b="1" sz="1700">
                <a:solidFill>
                  <a:srgbClr val="000000"/>
                </a:solidFill>
                <a:latin typeface="Arial"/>
              </a:rPr>
              <a:t>Conexión Java–MySQL:</a:t>
            </a:r>
            <a:r>
              <a:rPr sz="1700">
                <a:solidFill>
                  <a:srgbClr val="000000"/>
                </a:solidFill>
                <a:latin typeface="Arial"/>
              </a:rPr>
              <a:t> acceso a los datos desde la aplicación (JDBC).</a:t>
            </a:r>
          </a:p>
        </p:txBody>
      </p:sp>
      <p:sp>
        <p:nvSpPr>
          <p:cNvPr id="5" name="Rectangle 4"/>
          <p:cNvSpPr/>
          <p:nvPr/>
        </p:nvSpPr>
        <p:spPr>
          <a:xfrm>
            <a:off x="1981047" y="4572000"/>
            <a:ext cx="82296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i="1" sz="1500">
                <a:solidFill>
                  <a:srgbClr val="404040"/>
                </a:solidFill>
                <a:latin typeface="Arial"/>
              </a:rPr>
              <a:t>[Evidencia: conexión y consulta desde Java (App.java)]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04040"/>
                </a:solidFill>
                <a:latin typeface="Arial"/>
              </a:rPr>
              <a:t>Farmacia con Consultorio Médico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04040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¿Por qué es importante una estrategia integral?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170432"/>
            <a:ext cx="475488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630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900">
                <a:solidFill>
                  <a:srgbClr val="000000"/>
                </a:solidFill>
                <a:latin typeface="Arial"/>
              </a:rPr>
              <a:t>– </a:t>
            </a:r>
            <a:r>
              <a:rPr b="1" sz="1900">
                <a:solidFill>
                  <a:srgbClr val="000000"/>
                </a:solidFill>
                <a:latin typeface="Arial"/>
              </a:rPr>
              <a:t>Entender las reglas de negocio:</a:t>
            </a:r>
            <a:r>
              <a:rPr sz="1900">
                <a:solidFill>
                  <a:srgbClr val="000000"/>
                </a:solidFill>
                <a:latin typeface="Arial"/>
              </a:rPr>
              <a:t> define qué debe validar el sistema.</a:t>
            </a:r>
          </a:p>
          <a:p>
            <a:pPr>
              <a:spcAft>
                <a:spcPts val="400"/>
              </a:spcAft>
            </a:pPr>
            <a:r>
              <a:rPr sz="1900">
                <a:solidFill>
                  <a:srgbClr val="000000"/>
                </a:solidFill>
                <a:latin typeface="Arial"/>
              </a:rPr>
              <a:t>– </a:t>
            </a:r>
            <a:r>
              <a:rPr b="1" sz="1900">
                <a:solidFill>
                  <a:srgbClr val="000000"/>
                </a:solidFill>
                <a:latin typeface="Arial"/>
              </a:rPr>
              <a:t>Mapear correctamente el flujo de información:</a:t>
            </a:r>
            <a:r>
              <a:rPr sz="1900">
                <a:solidFill>
                  <a:srgbClr val="000000"/>
                </a:solidFill>
                <a:latin typeface="Arial"/>
              </a:rPr>
              <a:t> evita islas de datos.</a:t>
            </a:r>
          </a:p>
          <a:p>
            <a:pPr>
              <a:spcAft>
                <a:spcPts val="400"/>
              </a:spcAft>
            </a:pPr>
            <a:r>
              <a:rPr sz="1900">
                <a:solidFill>
                  <a:srgbClr val="000000"/>
                </a:solidFill>
                <a:latin typeface="Arial"/>
              </a:rPr>
              <a:t>– </a:t>
            </a:r>
            <a:r>
              <a:rPr b="1" sz="1900">
                <a:solidFill>
                  <a:srgbClr val="000000"/>
                </a:solidFill>
                <a:latin typeface="Arial"/>
              </a:rPr>
              <a:t>Integrar operación y tecnología:</a:t>
            </a:r>
            <a:r>
              <a:rPr sz="1900">
                <a:solidFill>
                  <a:srgbClr val="000000"/>
                </a:solidFill>
                <a:latin typeface="Arial"/>
              </a:rPr>
              <a:t> una sola fuente de verdad.</a:t>
            </a:r>
          </a:p>
          <a:p>
            <a:pPr>
              <a:spcAft>
                <a:spcPts val="400"/>
              </a:spcAft>
            </a:pPr>
            <a:r>
              <a:rPr sz="1900">
                <a:solidFill>
                  <a:srgbClr val="000000"/>
                </a:solidFill>
                <a:latin typeface="Arial"/>
              </a:rPr>
              <a:t>– </a:t>
            </a:r>
            <a:r>
              <a:rPr b="1" sz="1900">
                <a:solidFill>
                  <a:srgbClr val="000000"/>
                </a:solidFill>
                <a:latin typeface="Arial"/>
              </a:rPr>
              <a:t>Gestionar la correcta ejecución:</a:t>
            </a:r>
            <a:r>
              <a:rPr sz="1900">
                <a:solidFill>
                  <a:srgbClr val="000000"/>
                </a:solidFill>
                <a:latin typeface="Arial"/>
              </a:rPr>
              <a:t> vistas, SP y triggers hacen cumplir las reglas.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937760"/>
            <a:ext cx="1091153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i="1" sz="1400">
                <a:solidFill>
                  <a:srgbClr val="404040"/>
                </a:solidFill>
                <a:latin typeface="Arial"/>
              </a:rPr>
              <a:t>Responde directamente a los cuatro puntos de la exposición oral.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04040"/>
                </a:solidFill>
                <a:latin typeface="Arial"/>
              </a:rPr>
              <a:t>Farmacia con Consultorio Médico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04040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¿Qué beneficios obtenemos?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170432"/>
            <a:ext cx="475488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63040"/>
            <a:ext cx="1091153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900">
                <a:solidFill>
                  <a:srgbClr val="000000"/>
                </a:solidFill>
                <a:latin typeface="Arial"/>
              </a:rPr>
              <a:t>– </a:t>
            </a:r>
            <a:r>
              <a:rPr b="1" sz="1900">
                <a:solidFill>
                  <a:srgbClr val="000000"/>
                </a:solidFill>
                <a:latin typeface="Arial"/>
              </a:rPr>
              <a:t>Seguridad del paciente:</a:t>
            </a:r>
            <a:r>
              <a:rPr sz="1900">
                <a:solidFill>
                  <a:srgbClr val="000000"/>
                </a:solidFill>
                <a:latin typeface="Arial"/>
              </a:rPr>
              <a:t> validaciones clínicas automáticas.</a:t>
            </a:r>
          </a:p>
          <a:p>
            <a:pPr>
              <a:spcAft>
                <a:spcPts val="400"/>
              </a:spcAft>
            </a:pPr>
            <a:r>
              <a:rPr sz="1900">
                <a:solidFill>
                  <a:srgbClr val="000000"/>
                </a:solidFill>
                <a:latin typeface="Arial"/>
              </a:rPr>
              <a:t>– </a:t>
            </a:r>
            <a:r>
              <a:rPr b="1" sz="1900">
                <a:solidFill>
                  <a:srgbClr val="000000"/>
                </a:solidFill>
                <a:latin typeface="Arial"/>
              </a:rPr>
              <a:t>Eficiencia operativa:</a:t>
            </a:r>
            <a:r>
              <a:rPr sz="1900">
                <a:solidFill>
                  <a:srgbClr val="000000"/>
                </a:solidFill>
                <a:latin typeface="Arial"/>
              </a:rPr>
              <a:t> procesos estandarizados y más rápidos.</a:t>
            </a:r>
          </a:p>
          <a:p>
            <a:pPr>
              <a:spcAft>
                <a:spcPts val="400"/>
              </a:spcAft>
            </a:pPr>
            <a:r>
              <a:rPr sz="1900">
                <a:solidFill>
                  <a:srgbClr val="000000"/>
                </a:solidFill>
                <a:latin typeface="Arial"/>
              </a:rPr>
              <a:t>– </a:t>
            </a:r>
            <a:r>
              <a:rPr b="1" sz="1900">
                <a:solidFill>
                  <a:srgbClr val="000000"/>
                </a:solidFill>
                <a:latin typeface="Arial"/>
              </a:rPr>
              <a:t>Control del inventario:</a:t>
            </a:r>
            <a:r>
              <a:rPr sz="1900">
                <a:solidFill>
                  <a:srgbClr val="000000"/>
                </a:solidFill>
                <a:latin typeface="Arial"/>
              </a:rPr>
              <a:t> menos desabasto y menos mermas.</a:t>
            </a:r>
          </a:p>
          <a:p>
            <a:pPr>
              <a:spcAft>
                <a:spcPts val="400"/>
              </a:spcAft>
            </a:pPr>
            <a:r>
              <a:rPr sz="1900">
                <a:solidFill>
                  <a:srgbClr val="000000"/>
                </a:solidFill>
                <a:latin typeface="Arial"/>
              </a:rPr>
              <a:t>– </a:t>
            </a:r>
            <a:r>
              <a:rPr b="1" sz="1900">
                <a:solidFill>
                  <a:srgbClr val="000000"/>
                </a:solidFill>
                <a:latin typeface="Arial"/>
              </a:rPr>
              <a:t>Automatización:</a:t>
            </a:r>
            <a:r>
              <a:rPr sz="1900">
                <a:solidFill>
                  <a:srgbClr val="000000"/>
                </a:solidFill>
                <a:latin typeface="Arial"/>
              </a:rPr>
              <a:t> menos errores manuales.</a:t>
            </a:r>
          </a:p>
          <a:p>
            <a:pPr>
              <a:spcAft>
                <a:spcPts val="400"/>
              </a:spcAft>
            </a:pPr>
            <a:r>
              <a:rPr sz="1900">
                <a:solidFill>
                  <a:srgbClr val="000000"/>
                </a:solidFill>
                <a:latin typeface="Arial"/>
              </a:rPr>
              <a:t>– </a:t>
            </a:r>
            <a:r>
              <a:rPr b="1" sz="1900">
                <a:solidFill>
                  <a:srgbClr val="000000"/>
                </a:solidFill>
                <a:latin typeface="Arial"/>
              </a:rPr>
              <a:t>Información para la toma de decisiones:</a:t>
            </a:r>
            <a:r>
              <a:rPr sz="1900">
                <a:solidFill>
                  <a:srgbClr val="000000"/>
                </a:solidFill>
                <a:latin typeface="Arial"/>
              </a:rPr>
              <a:t> reportes de consumo y conversión.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04040"/>
                </a:solidFill>
                <a:latin typeface="Arial"/>
              </a:rPr>
              <a:t>Farmacia con Consultorio Médico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04040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Conclusión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170432"/>
            <a:ext cx="475488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63040"/>
            <a:ext cx="1091153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900">
                <a:solidFill>
                  <a:srgbClr val="000000"/>
                </a:solidFill>
                <a:latin typeface="Arial"/>
              </a:rPr>
              <a:t>– </a:t>
            </a:r>
            <a:r>
              <a:rPr b="1" sz="1900">
                <a:solidFill>
                  <a:srgbClr val="000000"/>
                </a:solidFill>
                <a:latin typeface="Arial"/>
              </a:rPr>
              <a:t>Problema identificado:</a:t>
            </a:r>
            <a:r>
              <a:rPr sz="1900">
                <a:solidFill>
                  <a:srgbClr val="000000"/>
                </a:solidFill>
                <a:latin typeface="Arial"/>
              </a:rPr>
              <a:t> consultorio y farmacia desconectados, información arcaica.</a:t>
            </a:r>
          </a:p>
          <a:p>
            <a:pPr>
              <a:spcAft>
                <a:spcPts val="400"/>
              </a:spcAft>
            </a:pPr>
            <a:r>
              <a:rPr sz="1900">
                <a:solidFill>
                  <a:srgbClr val="000000"/>
                </a:solidFill>
                <a:latin typeface="Arial"/>
              </a:rPr>
              <a:t>– </a:t>
            </a:r>
            <a:r>
              <a:rPr b="1" sz="1900">
                <a:solidFill>
                  <a:srgbClr val="000000"/>
                </a:solidFill>
                <a:latin typeface="Arial"/>
              </a:rPr>
              <a:t>Estrategia aplicada:</a:t>
            </a:r>
            <a:r>
              <a:rPr sz="1900">
                <a:solidFill>
                  <a:srgbClr val="000000"/>
                </a:solidFill>
                <a:latin typeface="Arial"/>
              </a:rPr>
              <a:t> estandarizar, centralizar y automatizar la operación.</a:t>
            </a:r>
          </a:p>
          <a:p>
            <a:pPr>
              <a:spcAft>
                <a:spcPts val="400"/>
              </a:spcAft>
            </a:pPr>
            <a:r>
              <a:rPr sz="1900">
                <a:solidFill>
                  <a:srgbClr val="000000"/>
                </a:solidFill>
                <a:latin typeface="Arial"/>
              </a:rPr>
              <a:t>– </a:t>
            </a:r>
            <a:r>
              <a:rPr b="1" sz="1900">
                <a:solidFill>
                  <a:srgbClr val="000000"/>
                </a:solidFill>
                <a:latin typeface="Arial"/>
              </a:rPr>
              <a:t>Solución implementada:</a:t>
            </a:r>
            <a:r>
              <a:rPr sz="1900">
                <a:solidFill>
                  <a:srgbClr val="000000"/>
                </a:solidFill>
                <a:latin typeface="Arial"/>
              </a:rPr>
              <a:t> base de datos relacional con vistas, SP y triggers.</a:t>
            </a:r>
          </a:p>
          <a:p>
            <a:pPr>
              <a:spcAft>
                <a:spcPts val="400"/>
              </a:spcAft>
            </a:pPr>
            <a:r>
              <a:rPr sz="1900">
                <a:solidFill>
                  <a:srgbClr val="000000"/>
                </a:solidFill>
                <a:latin typeface="Arial"/>
              </a:rPr>
              <a:t>– </a:t>
            </a:r>
            <a:r>
              <a:rPr b="1" sz="1900">
                <a:solidFill>
                  <a:srgbClr val="000000"/>
                </a:solidFill>
                <a:latin typeface="Arial"/>
              </a:rPr>
              <a:t>Resultado obtenido:</a:t>
            </a:r>
            <a:r>
              <a:rPr sz="1900">
                <a:solidFill>
                  <a:srgbClr val="000000"/>
                </a:solidFill>
                <a:latin typeface="Arial"/>
              </a:rPr>
              <a:t> atención más segura, menos pérdidas y trazabilidad total.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04040"/>
                </a:solidFill>
                <a:latin typeface="Arial"/>
              </a:rPr>
              <a:t>Farmacia con Consultorio Médico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04040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10362895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000000"/>
                </a:solidFill>
                <a:latin typeface="Arial"/>
              </a:rPr>
              <a:t>Gracias</a:t>
            </a:r>
          </a:p>
          <a:p>
            <a:pPr algn="ctr">
              <a:spcBef>
                <a:spcPts val="1000"/>
              </a:spcBef>
            </a:pPr>
            <a:r>
              <a:rPr sz="2000">
                <a:solidFill>
                  <a:srgbClr val="404040"/>
                </a:solidFill>
                <a:latin typeface="Arial"/>
              </a:rPr>
              <a:t>¿Preguntas?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